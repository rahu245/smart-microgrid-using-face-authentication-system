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9" r:id="rId3"/>
    <p:sldId id="257" r:id="rId4"/>
    <p:sldId id="274" r:id="rId5"/>
    <p:sldId id="273" r:id="rId6"/>
    <p:sldId id="268" r:id="rId7"/>
    <p:sldId id="272" r:id="rId8"/>
    <p:sldId id="275" r:id="rId9"/>
    <p:sldId id="270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B2FB3-58F4-40C9-8B4F-F4489F0BE08D}" v="16" dt="2025-12-02T08:45:10.124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Y.R" userId="1d5860bafa2145d5" providerId="LiveId" clId="{CDC01950-9FEA-46AA-AB25-1E948E8DE6A0}"/>
    <pc:docChg chg="custSel modSld">
      <pc:chgData name="Rahul Y.R" userId="1d5860bafa2145d5" providerId="LiveId" clId="{CDC01950-9FEA-46AA-AB25-1E948E8DE6A0}" dt="2025-12-02T08:53:27.029" v="275" actId="20577"/>
      <pc:docMkLst>
        <pc:docMk/>
      </pc:docMkLst>
      <pc:sldChg chg="modSp mod">
        <pc:chgData name="Rahul Y.R" userId="1d5860bafa2145d5" providerId="LiveId" clId="{CDC01950-9FEA-46AA-AB25-1E948E8DE6A0}" dt="2025-12-02T08:35:03.499" v="39" actId="20577"/>
        <pc:sldMkLst>
          <pc:docMk/>
          <pc:sldMk cId="0" sldId="256"/>
        </pc:sldMkLst>
        <pc:spChg chg="mod">
          <ac:chgData name="Rahul Y.R" userId="1d5860bafa2145d5" providerId="LiveId" clId="{CDC01950-9FEA-46AA-AB25-1E948E8DE6A0}" dt="2025-12-02T08:35:03.499" v="39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Rahul Y.R" userId="1d5860bafa2145d5" providerId="LiveId" clId="{CDC01950-9FEA-46AA-AB25-1E948E8DE6A0}" dt="2025-12-02T08:34:09.572" v="0"/>
          <ac:spMkLst>
            <pc:docMk/>
            <pc:sldMk cId="0" sldId="256"/>
            <ac:spMk id="87" creationId="{00000000-0000-0000-0000-000000000000}"/>
          </ac:spMkLst>
        </pc:spChg>
      </pc:sldChg>
      <pc:sldChg chg="addSp modSp mod">
        <pc:chgData name="Rahul Y.R" userId="1d5860bafa2145d5" providerId="LiveId" clId="{CDC01950-9FEA-46AA-AB25-1E948E8DE6A0}" dt="2025-12-02T08:37:41.904" v="161" actId="5793"/>
        <pc:sldMkLst>
          <pc:docMk/>
          <pc:sldMk cId="0" sldId="257"/>
        </pc:sldMkLst>
        <pc:spChg chg="add">
          <ac:chgData name="Rahul Y.R" userId="1d5860bafa2145d5" providerId="LiveId" clId="{CDC01950-9FEA-46AA-AB25-1E948E8DE6A0}" dt="2025-12-02T08:36:49.060" v="153"/>
          <ac:spMkLst>
            <pc:docMk/>
            <pc:sldMk cId="0" sldId="257"/>
            <ac:spMk id="2" creationId="{F48D3E59-0D0F-D794-C5A0-0672BBF6F86F}"/>
          </ac:spMkLst>
        </pc:spChg>
        <pc:spChg chg="add">
          <ac:chgData name="Rahul Y.R" userId="1d5860bafa2145d5" providerId="LiveId" clId="{CDC01950-9FEA-46AA-AB25-1E948E8DE6A0}" dt="2025-12-02T08:36:59.331" v="155"/>
          <ac:spMkLst>
            <pc:docMk/>
            <pc:sldMk cId="0" sldId="257"/>
            <ac:spMk id="3" creationId="{84ADF20C-FF59-A059-30BA-BBB3EA1B0C00}"/>
          </ac:spMkLst>
        </pc:spChg>
        <pc:spChg chg="mod">
          <ac:chgData name="Rahul Y.R" userId="1d5860bafa2145d5" providerId="LiveId" clId="{CDC01950-9FEA-46AA-AB25-1E948E8DE6A0}" dt="2025-12-02T08:37:41.904" v="161" actId="5793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Rahul Y.R" userId="1d5860bafa2145d5" providerId="LiveId" clId="{CDC01950-9FEA-46AA-AB25-1E948E8DE6A0}" dt="2025-12-02T08:45:17.790" v="255" actId="255"/>
        <pc:sldMkLst>
          <pc:docMk/>
          <pc:sldMk cId="0" sldId="265"/>
        </pc:sldMkLst>
        <pc:graphicFrameChg chg="mod modGraphic">
          <ac:chgData name="Rahul Y.R" userId="1d5860bafa2145d5" providerId="LiveId" clId="{CDC01950-9FEA-46AA-AB25-1E948E8DE6A0}" dt="2025-12-02T08:45:17.790" v="255" actId="255"/>
          <ac:graphicFrameMkLst>
            <pc:docMk/>
            <pc:sldMk cId="0" sldId="265"/>
            <ac:graphicFrameMk id="4" creationId="{E8F31C1A-7487-B02D-F406-65770E16202C}"/>
          </ac:graphicFrameMkLst>
        </pc:graphicFrameChg>
      </pc:sldChg>
      <pc:sldChg chg="modSp mod">
        <pc:chgData name="Rahul Y.R" userId="1d5860bafa2145d5" providerId="LiveId" clId="{CDC01950-9FEA-46AA-AB25-1E948E8DE6A0}" dt="2025-12-02T08:36:26.158" v="147" actId="14100"/>
        <pc:sldMkLst>
          <pc:docMk/>
          <pc:sldMk cId="2143451837" sldId="269"/>
        </pc:sldMkLst>
        <pc:spChg chg="mod">
          <ac:chgData name="Rahul Y.R" userId="1d5860bafa2145d5" providerId="LiveId" clId="{CDC01950-9FEA-46AA-AB25-1E948E8DE6A0}" dt="2025-12-02T08:36:26.158" v="147" actId="14100"/>
          <ac:spMkLst>
            <pc:docMk/>
            <pc:sldMk cId="2143451837" sldId="269"/>
            <ac:spMk id="97" creationId="{00000000-0000-0000-0000-000000000000}"/>
          </ac:spMkLst>
        </pc:spChg>
      </pc:sldChg>
      <pc:sldChg chg="modSp mod">
        <pc:chgData name="Rahul Y.R" userId="1d5860bafa2145d5" providerId="LiveId" clId="{CDC01950-9FEA-46AA-AB25-1E948E8DE6A0}" dt="2025-12-02T08:53:27.029" v="275" actId="20577"/>
        <pc:sldMkLst>
          <pc:docMk/>
          <pc:sldMk cId="3338832548" sldId="272"/>
        </pc:sldMkLst>
        <pc:spChg chg="mod">
          <ac:chgData name="Rahul Y.R" userId="1d5860bafa2145d5" providerId="LiveId" clId="{CDC01950-9FEA-46AA-AB25-1E948E8DE6A0}" dt="2025-12-02T08:53:27.029" v="275" actId="20577"/>
          <ac:spMkLst>
            <pc:docMk/>
            <pc:sldMk cId="3338832548" sldId="272"/>
            <ac:spMk id="115" creationId="{00000000-0000-0000-0000-000000000000}"/>
          </ac:spMkLst>
        </pc:spChg>
      </pc:sldChg>
      <pc:sldChg chg="modSp mod">
        <pc:chgData name="Rahul Y.R" userId="1d5860bafa2145d5" providerId="LiveId" clId="{CDC01950-9FEA-46AA-AB25-1E948E8DE6A0}" dt="2025-12-02T08:41:25.479" v="204" actId="27636"/>
        <pc:sldMkLst>
          <pc:docMk/>
          <pc:sldMk cId="1030816154" sldId="273"/>
        </pc:sldMkLst>
        <pc:spChg chg="mod">
          <ac:chgData name="Rahul Y.R" userId="1d5860bafa2145d5" providerId="LiveId" clId="{CDC01950-9FEA-46AA-AB25-1E948E8DE6A0}" dt="2025-12-02T08:41:25.479" v="204" actId="27636"/>
          <ac:spMkLst>
            <pc:docMk/>
            <pc:sldMk cId="1030816154" sldId="273"/>
            <ac:spMk id="115" creationId="{00000000-0000-0000-0000-000000000000}"/>
          </ac:spMkLst>
        </pc:spChg>
      </pc:sldChg>
      <pc:sldChg chg="modSp mod">
        <pc:chgData name="Rahul Y.R" userId="1d5860bafa2145d5" providerId="LiveId" clId="{CDC01950-9FEA-46AA-AB25-1E948E8DE6A0}" dt="2025-12-02T08:39:44.309" v="182" actId="20577"/>
        <pc:sldMkLst>
          <pc:docMk/>
          <pc:sldMk cId="2637979550" sldId="274"/>
        </pc:sldMkLst>
        <pc:spChg chg="mod">
          <ac:chgData name="Rahul Y.R" userId="1d5860bafa2145d5" providerId="LiveId" clId="{CDC01950-9FEA-46AA-AB25-1E948E8DE6A0}" dt="2025-12-02T08:39:44.309" v="182" actId="20577"/>
          <ac:spMkLst>
            <pc:docMk/>
            <pc:sldMk cId="2637979550" sldId="274"/>
            <ac:spMk id="97" creationId="{00000000-0000-0000-0000-000000000000}"/>
          </ac:spMkLst>
        </pc:spChg>
      </pc:sldChg>
      <pc:sldChg chg="addSp delSp modSp mod">
        <pc:chgData name="Rahul Y.R" userId="1d5860bafa2145d5" providerId="LiveId" clId="{CDC01950-9FEA-46AA-AB25-1E948E8DE6A0}" dt="2025-12-02T08:44:40.993" v="252" actId="255"/>
        <pc:sldMkLst>
          <pc:docMk/>
          <pc:sldMk cId="2464437997" sldId="275"/>
        </pc:sldMkLst>
        <pc:spChg chg="add mod">
          <ac:chgData name="Rahul Y.R" userId="1d5860bafa2145d5" providerId="LiveId" clId="{CDC01950-9FEA-46AA-AB25-1E948E8DE6A0}" dt="2025-12-02T08:44:40.993" v="252" actId="255"/>
          <ac:spMkLst>
            <pc:docMk/>
            <pc:sldMk cId="2464437997" sldId="275"/>
            <ac:spMk id="4" creationId="{B8DB0096-1919-95AA-3C8E-C207C1283C0A}"/>
          </ac:spMkLst>
        </pc:spChg>
        <pc:picChg chg="add mod">
          <ac:chgData name="Rahul Y.R" userId="1d5860bafa2145d5" providerId="LiveId" clId="{CDC01950-9FEA-46AA-AB25-1E948E8DE6A0}" dt="2025-12-02T08:43:54.863" v="232" actId="1076"/>
          <ac:picMkLst>
            <pc:docMk/>
            <pc:sldMk cId="2464437997" sldId="275"/>
            <ac:picMk id="3" creationId="{F816A060-1DE7-6A2F-BA68-2DD911129973}"/>
          </ac:picMkLst>
        </pc:picChg>
        <pc:picChg chg="del">
          <ac:chgData name="Rahul Y.R" userId="1d5860bafa2145d5" providerId="LiveId" clId="{CDC01950-9FEA-46AA-AB25-1E948E8DE6A0}" dt="2025-12-02T08:43:51.389" v="230" actId="478"/>
          <ac:picMkLst>
            <pc:docMk/>
            <pc:sldMk cId="2464437997" sldId="275"/>
            <ac:picMk id="6" creationId="{2C80B3A6-ACEC-9387-9F2F-4ED29D2643E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SMART MICROGRID USING FACE AUTHENTICATION SYSTEM</a:t>
            </a:r>
            <a:br>
              <a:rPr lang="en-US" sz="2400" dirty="0"/>
            </a:b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CSE_143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Ms. Swetha Rajagopal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491659361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Dr. </a:t>
            </a:r>
            <a:r>
              <a:rPr lang="en-IN" sz="1800" b="1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Muthuraju</a:t>
            </a:r>
            <a:r>
              <a:rPr lang="en-IN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V</a:t>
            </a:r>
            <a:endParaRPr lang="en-IN" sz="1800" dirty="0">
              <a:solidFill>
                <a:srgbClr val="FF0000"/>
              </a:solidFill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B188C11-EC7B-8440-7C34-F60F19CEC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898322"/>
              </p:ext>
            </p:extLst>
          </p:nvPr>
        </p:nvGraphicFramePr>
        <p:xfrm>
          <a:off x="535049" y="3097161"/>
          <a:ext cx="5436974" cy="1209366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718487">
                  <a:extLst>
                    <a:ext uri="{9D8B030D-6E8A-4147-A177-3AD203B41FA5}">
                      <a16:colId xmlns:a16="http://schemas.microsoft.com/office/drawing/2014/main" val="2553095537"/>
                    </a:ext>
                  </a:extLst>
                </a:gridCol>
                <a:gridCol w="2718487">
                  <a:extLst>
                    <a:ext uri="{9D8B030D-6E8A-4147-A177-3AD203B41FA5}">
                      <a16:colId xmlns:a16="http://schemas.microsoft.com/office/drawing/2014/main" val="1399448488"/>
                    </a:ext>
                  </a:extLst>
                </a:gridCol>
              </a:tblGrid>
              <a:tr h="403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tx1"/>
                          </a:solidFill>
                        </a:rPr>
                        <a:t>20221CSE0216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Y R Rahul</a:t>
                      </a:r>
                      <a:endParaRPr lang="en-IN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590155"/>
                  </a:ext>
                </a:extLst>
              </a:tr>
              <a:tr h="40312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400" u="none" strike="noStrike" cap="none" dirty="0"/>
                        <a:t>20221CSE0231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Darshan Kumar 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813016"/>
                  </a:ext>
                </a:extLst>
              </a:tr>
              <a:tr h="40312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u="none" strike="noStrike" cap="none" dirty="0"/>
                        <a:t>20221CSE0242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 Monesh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869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PSCS_15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832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Both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Design and implement a smart microgrid using face authentication system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ensure secure, resilient, and efficient operation under unauthorized access.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22555"/>
            <a:ext cx="10668000" cy="496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76200" indent="0">
              <a:buNone/>
            </a:pPr>
            <a:r>
              <a:rPr lang="en-US" sz="1600" b="1" dirty="0"/>
              <a:t>&gt;   </a:t>
            </a:r>
            <a:r>
              <a:rPr lang="en-US" sz="1600" b="1" u="sng" dirty="0"/>
              <a:t>Problem Statement:</a:t>
            </a:r>
          </a:p>
          <a:p>
            <a:r>
              <a:rPr lang="en-US" sz="1600" dirty="0"/>
              <a:t>Design and implement a </a:t>
            </a:r>
            <a:r>
              <a:rPr lang="en-US" sz="1600" b="1" dirty="0"/>
              <a:t>smart microgrid</a:t>
            </a:r>
            <a:r>
              <a:rPr lang="en-US" sz="1600" dirty="0"/>
              <a:t> with </a:t>
            </a:r>
            <a:r>
              <a:rPr lang="en-US" sz="1600" b="1" dirty="0"/>
              <a:t>face authentication</a:t>
            </a:r>
            <a:r>
              <a:rPr lang="en-US" sz="1600" dirty="0"/>
              <a:t> to ensure secure, uninterrupted energy supply by:</a:t>
            </a:r>
          </a:p>
          <a:p>
            <a:r>
              <a:rPr lang="en-US" sz="1600" dirty="0"/>
              <a:t>Monitoring voltage, current &amp; environmental conditions</a:t>
            </a:r>
          </a:p>
          <a:p>
            <a:r>
              <a:rPr lang="en-US" sz="1600" dirty="0"/>
              <a:t>Automatically switching between transformer &amp; battery</a:t>
            </a:r>
          </a:p>
          <a:p>
            <a:r>
              <a:rPr lang="en-US" sz="1600" dirty="0"/>
              <a:t>Allowing only authenticated users to control loads</a:t>
            </a:r>
          </a:p>
          <a:p>
            <a:r>
              <a:rPr lang="en-US" sz="1600" dirty="0"/>
              <a:t>Enabling real-time remote operation via Bluetooth</a:t>
            </a:r>
          </a:p>
          <a:p>
            <a:pPr marL="76200" indent="0">
              <a:buNone/>
            </a:pPr>
            <a:endParaRPr lang="en-US" sz="1600" dirty="0"/>
          </a:p>
          <a:p>
            <a:pPr marL="76200" indent="0">
              <a:buNone/>
            </a:pPr>
            <a:r>
              <a:rPr lang="en-IN" sz="1600" b="1" dirty="0"/>
              <a:t> &gt;  </a:t>
            </a:r>
            <a:r>
              <a:rPr lang="en-IN" sz="1600" b="1" u="sng" dirty="0"/>
              <a:t>Objectives: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Automatic selection of best power source (Transformer / Battery)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Real-time monitoring of voltage, current, temperature, humidity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Load control using Bluetooth-based mobile app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Secure access using face authentication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Reliable and continuous power delivery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User-friendly display using LCD (I2C)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 (continuation)..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02891"/>
            <a:ext cx="10668000" cy="499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400" b="1" dirty="0"/>
              <a:t>&gt;   </a:t>
            </a:r>
            <a:r>
              <a:rPr lang="en-IN" sz="1400" b="1" u="sng" dirty="0"/>
              <a:t>Background and Related Work for Title Selection</a:t>
            </a:r>
          </a:p>
          <a:p>
            <a:r>
              <a:rPr lang="en-IN" sz="1400" dirty="0"/>
              <a:t>Traditional grids face failures, losses &amp; manual switching issues</a:t>
            </a:r>
          </a:p>
          <a:p>
            <a:r>
              <a:rPr lang="en-IN" sz="1400" dirty="0"/>
              <a:t>Smart microgrids improve reliability &amp; autonomy</a:t>
            </a:r>
          </a:p>
          <a:p>
            <a:r>
              <a:rPr lang="en-IN" sz="1400" dirty="0"/>
              <a:t>IoT enables automation, sensing &amp; intelligent decision-making</a:t>
            </a:r>
          </a:p>
          <a:p>
            <a:r>
              <a:rPr lang="en-IN" sz="1400" dirty="0"/>
              <a:t>Existing systems lack biometric security + low-cost automation</a:t>
            </a:r>
          </a:p>
          <a:p>
            <a:pPr marL="76200" indent="0">
              <a:buNone/>
            </a:pPr>
            <a:endParaRPr lang="en-IN" sz="1400" dirty="0"/>
          </a:p>
          <a:p>
            <a:pPr marL="76200" indent="0">
              <a:buNone/>
            </a:pPr>
            <a:r>
              <a:rPr lang="en-US" sz="1400" b="1" dirty="0"/>
              <a:t>&gt;    Literature Review (Summary)</a:t>
            </a:r>
          </a:p>
          <a:p>
            <a:r>
              <a:rPr lang="en-US" sz="1400" b="1" dirty="0"/>
              <a:t>Key Insights from Reviewed Papers:</a:t>
            </a:r>
            <a:endParaRPr lang="en-US" sz="1400" dirty="0"/>
          </a:p>
          <a:p>
            <a:r>
              <a:rPr lang="en-US" sz="1400" dirty="0"/>
              <a:t>IoT-based microgrids require intelligent control &amp; real-time data monitoring.</a:t>
            </a:r>
          </a:p>
          <a:p>
            <a:r>
              <a:rPr lang="en-US" sz="1400" dirty="0"/>
              <a:t>Sensor-based load management improves energy efficiency.</a:t>
            </a:r>
          </a:p>
          <a:p>
            <a:r>
              <a:rPr lang="en-US" sz="1400" dirty="0"/>
              <a:t>Bluetooth/Wi-Fi are reliable for local device communication.</a:t>
            </a:r>
          </a:p>
          <a:p>
            <a:r>
              <a:rPr lang="en-US" sz="1400" dirty="0"/>
              <a:t>Face authentication improves security but must be optimized for low-cost hardware.</a:t>
            </a:r>
          </a:p>
          <a:p>
            <a:r>
              <a:rPr lang="en-US" sz="1400" dirty="0"/>
              <a:t>Many prototypes lack combined </a:t>
            </a:r>
            <a:r>
              <a:rPr lang="en-US" sz="1400" b="1" dirty="0"/>
              <a:t>power automation + security + monitoring</a:t>
            </a:r>
            <a:r>
              <a:rPr lang="en-US" sz="1400" dirty="0"/>
              <a:t>.</a:t>
            </a: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Arduino Nano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Voltage Sensor Modules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ACS712 Current Sensor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DHT11 Sensor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HC-05 Bluetooth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2-Channel &amp; 4-Channel Relays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12V Transformer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12V Li-ion Battery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  <a:buSzPct val="100000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Fan, LED, USB Load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https://github.com/Rahu245/Design-of-Cyber-Security-Enabled-Smart-Controller-for-grid-connected-Microgrid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r>
              <a:rPr lang="en-IN" sz="2000" b="1" dirty="0"/>
              <a:t>Hardware Components</a:t>
            </a:r>
          </a:p>
          <a:p>
            <a:r>
              <a:rPr lang="en-IN" sz="2000" dirty="0"/>
              <a:t>Arduino Nano, Voltage Sensors, ACS712 Current Sensor, DHT11 Sensor, HC-05 Bluetooth Module, ESP32-CAM (Face Authentication Module), 2-Channel Relay Module, 4-Channel Relay Module, 12V Transformer, 12V Li-ion Battery, 16×2 I2C LCD Display, Fan, LED, USB </a:t>
            </a:r>
            <a:r>
              <a:rPr lang="en-IN" sz="2000" dirty="0" err="1"/>
              <a:t>Port,Jumper</a:t>
            </a:r>
            <a:r>
              <a:rPr lang="en-IN" sz="2000" dirty="0"/>
              <a:t> Wires, Power Supply Unit.</a:t>
            </a:r>
          </a:p>
          <a:p>
            <a:r>
              <a:rPr lang="en-IN" sz="2000" b="1" dirty="0"/>
              <a:t>Software Components</a:t>
            </a:r>
          </a:p>
          <a:p>
            <a:r>
              <a:rPr lang="en-IN" sz="2000" dirty="0"/>
              <a:t>Arduino IDE, Embedded C/Arduino Language, LiquidCrystal_I2C Library, DHT Library, Serial Communication </a:t>
            </a:r>
            <a:r>
              <a:rPr lang="en-IN" sz="2000"/>
              <a:t>Library, </a:t>
            </a:r>
            <a:r>
              <a:rPr lang="en-IN" sz="2000" dirty="0"/>
              <a:t>Python with OpenCV, Mobile Bluetooth Application.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016B7-4075-F384-7A98-C2097199F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6A060-1DE7-6A2F-BA68-2DD9111299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8990" y="1082992"/>
            <a:ext cx="3055620" cy="55003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DB0096-1919-95AA-3C8E-C207C1283C0A}"/>
              </a:ext>
            </a:extLst>
          </p:cNvPr>
          <p:cNvSpPr txBox="1"/>
          <p:nvPr/>
        </p:nvSpPr>
        <p:spPr>
          <a:xfrm>
            <a:off x="2143432" y="1183298"/>
            <a:ext cx="2605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246443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Gantt Chart-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82AA9-B2E3-0929-70B3-B076DF137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079625"/>
            <a:ext cx="10668000" cy="26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F31C1A-7487-B02D-F406-65770E162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499219"/>
              </p:ext>
            </p:extLst>
          </p:nvPr>
        </p:nvGraphicFramePr>
        <p:xfrm>
          <a:off x="884903" y="1042220"/>
          <a:ext cx="10009239" cy="5973850"/>
        </p:xfrm>
        <a:graphic>
          <a:graphicData uri="http://schemas.openxmlformats.org/drawingml/2006/table">
            <a:tbl>
              <a:tblPr/>
              <a:tblGrid>
                <a:gridCol w="10009239">
                  <a:extLst>
                    <a:ext uri="{9D8B030D-6E8A-4147-A177-3AD203B41FA5}">
                      <a16:colId xmlns:a16="http://schemas.microsoft.com/office/drawing/2014/main" val="418648428"/>
                    </a:ext>
                  </a:extLst>
                </a:gridCol>
              </a:tblGrid>
              <a:tr h="1168302">
                <a:tc>
                  <a:txBody>
                    <a:bodyPr/>
                    <a:lstStyle/>
                    <a:p>
                      <a:r>
                        <a:rPr lang="en-IN" sz="2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[1]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S. E. </a:t>
                      </a:r>
                      <a:r>
                        <a:rPr lang="en-IN" sz="2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Eyimaya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and N. Altin, “Review of energy management systems in microgrids,” </a:t>
                      </a:r>
                      <a:r>
                        <a:rPr lang="en-IN" sz="2000" b="0" i="1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Applied Sciences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vol. 14, no. 3, Art. no. 1249, Feb. 2024, </a:t>
                      </a:r>
                      <a:r>
                        <a:rPr lang="en-IN" sz="2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doi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10.3390/app14031249.</a:t>
                      </a:r>
                    </a:p>
                    <a:p>
                      <a:r>
                        <a:rPr lang="en-IN" sz="2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[2]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M. R. Khan, A. B. Siddiqui, A. U. Rehman, J. Khan, M. T. S. A. Asad, and A. Asad, “IoT based power monitoring system for smart grid applications,” </a:t>
                      </a:r>
                      <a:r>
                        <a:rPr lang="en-IN" sz="2000" b="0" i="1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Processes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vol. 12, no. 2, Art. no. 270, Feb. 2024, </a:t>
                      </a:r>
                      <a:r>
                        <a:rPr lang="en-IN" sz="2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doi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10.3390/pr12020270.</a:t>
                      </a:r>
                    </a:p>
                    <a:p>
                      <a:r>
                        <a:rPr lang="en-IN" sz="2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[3]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R. A. Ahmed, M. M. F. Abdelraouf, S. A. Elsaid, M. </a:t>
                      </a:r>
                      <a:r>
                        <a:rPr lang="en-IN" sz="2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ElAffendi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A. A. A. El-Latif, A. A. Shaalan, and A. A. Ateya, “Internet of Things-Based Robust Green Smart Grid,” </a:t>
                      </a:r>
                      <a:r>
                        <a:rPr lang="en-IN" sz="2000" b="0" i="1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Computers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vol. 13, no. 7, Art. no. 169, Jul. 2024, </a:t>
                      </a:r>
                      <a:r>
                        <a:rPr lang="en-IN" sz="20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doi</a:t>
                      </a:r>
                      <a:r>
                        <a:rPr lang="en-IN" sz="20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: 10.3390/computers13070169.</a:t>
                      </a: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046853"/>
                  </a:ext>
                </a:extLst>
              </a:tr>
              <a:tr h="1168302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60683"/>
                  </a:ext>
                </a:extLst>
              </a:tr>
              <a:tr h="905434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30989"/>
                  </a:ext>
                </a:extLst>
              </a:tr>
              <a:tr h="66989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43628"/>
                  </a:ext>
                </a:extLst>
              </a:tr>
              <a:tr h="66989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endParaRPr lang="en-IN" sz="20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T="60960" marB="6096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65651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4767BC26-B2FA-376C-2B94-17513161B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81013" y="2171700"/>
            <a:ext cx="113823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739</Words>
  <Application>Microsoft Office PowerPoint</Application>
  <PresentationFormat>Widescreen</PresentationFormat>
  <Paragraphs>97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Cambria</vt:lpstr>
      <vt:lpstr>Times New Roman</vt:lpstr>
      <vt:lpstr>Verdana</vt:lpstr>
      <vt:lpstr>Wingdings</vt:lpstr>
      <vt:lpstr>Bioinformatics</vt:lpstr>
      <vt:lpstr>SMART MICROGRID USING FACE AUTHENTICATION SYSTEM </vt:lpstr>
      <vt:lpstr>Problem Statement Number: PSCS_15</vt:lpstr>
      <vt:lpstr>Content</vt:lpstr>
      <vt:lpstr>Content (continuation)..</vt:lpstr>
      <vt:lpstr>Analysis of Problem Statement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Rahul Y.R</cp:lastModifiedBy>
  <cp:revision>47</cp:revision>
  <dcterms:modified xsi:type="dcterms:W3CDTF">2025-12-02T08:53:30Z</dcterms:modified>
</cp:coreProperties>
</file>